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all know this picture. Someone has an idea, types it into a chat and gets a good answer within a minute — and the answer really is good. It goes into an e-mail, and the e-mail becomes a team's assignment. But nobody examined what was in that person's head before they typed. The chat answered the question it was given; whether it was the right question, nobody checked. The mistakes we pay for later were made there, before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forge starts where the chat stops: with the idea itself. The idea enters exactly as written and is never changed — that is the anchor. From it a working shape is hammered until it holds: what I actually want, why, what is still open, and what I dropped and why. Only when that holds is an output cast, and the output can be anything — an assignment for a team, a strategy paper, a board proposal, an argument for the supervisory board, input into someone else's document. The AI does not compose the substance for you; it asks, argues back and keeps order, and every decision stays yours. Form comes last; the substance is forged once.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a chat has never shown you: before the output leaves, opponents read it, and each has one job. One reads only the document and hunts for what is unclear or contradicts itself; another reads only the document and attacks the substance — is this even the right problem, what happens in a year. More are added as the need shows, one for each angle the idea must survive. They work in isolation: they do not know the conversation, so they cannot nod along. Every objection ends in a recorded verdict — accepted, rejected with a reason, or left open. On one enterprise platform project that meant thirty-four objections: thirty-one accepted, three rejected with a written reason, before a single team member saw the output.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forged substance feeds every audience. From it the outputs are generated: a five-minute pitch for group leadership, a technical deck for a supplier, a one-page mail for a colleague, an executive summary, an architecture picture for someone outside IT. Each output has its own definition — for whom, what, how long — and that is what you tune; you never rewrite the text by hand. When the idea changes, everything regenerates at once, and every output is at the current version. No more asking which version of the deck is the right one, no more rewriting five documents after one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this mean for you? Three things, not a feature list. An assignment that survives the team's first question, because the questions were asked before it left. Every decision carries a date and a reason — and still does a year later, when somebody asks why. An idea from anyone goes through the same discipline, from the CEO to the analyst. A chat gives you an answer; the forge gives you a decision you can stand behind.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731520" y="566928"/>
            <a:ext cx="502920" cy="54864"/>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49808"/>
            <a:ext cx="10728655" cy="685800"/>
          </a:xfrm>
          <a:prstGeom prst="rect">
            <a:avLst/>
          </a:prstGeom>
          <a:noFill/>
        </p:spPr>
        <p:txBody>
          <a:bodyPr wrap="square" anchor="t" lIns="0" rIns="0" tIns="0" bIns="0">
            <a:noAutofit/>
          </a:bodyPr>
          <a:lstStyle/>
          <a:p>
            <a:r>
              <a:rPr sz="3600" b="0">
                <a:solidFill>
                  <a:srgbClr val="F3F5F7"/>
                </a:solidFill>
                <a:latin typeface="Segoe UI Semibold"/>
              </a:rPr>
              <a:t>The chat answers. Nobody checks the question.</a:t>
            </a:r>
          </a:p>
        </p:txBody>
      </p:sp>
      <p:sp>
        <p:nvSpPr>
          <p:cNvPr id="4" name="TextBox 3"/>
          <p:cNvSpPr txBox="1"/>
          <p:nvPr/>
        </p:nvSpPr>
        <p:spPr>
          <a:xfrm>
            <a:off x="731520" y="1691640"/>
            <a:ext cx="10728655" cy="1882648"/>
          </a:xfrm>
          <a:prstGeom prst="rect">
            <a:avLst/>
          </a:prstGeom>
          <a:noFill/>
        </p:spPr>
        <p:txBody>
          <a:bodyPr wrap="square" anchor="t" lIns="0" rIns="0" tIns="0" bIns="0">
            <a:noAutofit/>
          </a:bodyPr>
          <a:lstStyle/>
          <a:p>
            <a:pPr>
              <a:spcAft>
                <a:spcPts val="600"/>
              </a:spcAft>
            </a:pPr>
            <a:r>
              <a:rPr sz="2200" b="0">
                <a:solidFill>
                  <a:srgbClr val="D3D9E0"/>
                </a:solidFill>
                <a:latin typeface="Segoe UI"/>
              </a:rPr>
              <a:t>Idea → chat → good answer → e-mail → assignment.</a:t>
            </a:r>
          </a:p>
          <a:p>
            <a:pPr>
              <a:spcAft>
                <a:spcPts val="600"/>
              </a:spcAft>
            </a:pPr>
            <a:r>
              <a:rPr sz="2200" b="0">
                <a:solidFill>
                  <a:srgbClr val="D3D9E0"/>
                </a:solidFill>
                <a:latin typeface="Segoe UI"/>
              </a:rPr>
              <a:t>The answer takes a minute.</a:t>
            </a:r>
          </a:p>
          <a:p>
            <a:pPr>
              <a:spcAft>
                <a:spcPts val="600"/>
              </a:spcAft>
            </a:pPr>
            <a:r>
              <a:rPr sz="2200" b="0">
                <a:solidFill>
                  <a:srgbClr val="D3D9E0"/>
                </a:solidFill>
                <a:latin typeface="Segoe UI"/>
              </a:rPr>
              <a:t>What was in the head was never examined.</a:t>
            </a:r>
          </a:p>
          <a:p>
            <a:pPr>
              <a:spcAft>
                <a:spcPts val="600"/>
              </a:spcAft>
            </a:pPr>
            <a:r>
              <a:rPr sz="2200" b="0">
                <a:solidFill>
                  <a:srgbClr val="D3D9E0"/>
                </a:solidFill>
                <a:latin typeface="Segoe UI"/>
              </a:rPr>
              <a:t>The error is not in the answer but in the question.</a:t>
            </a:r>
          </a:p>
        </p:txBody>
      </p:sp>
      <p:sp>
        <p:nvSpPr>
          <p:cNvPr id="5" name="Rounded Rectangle 4"/>
          <p:cNvSpPr/>
          <p:nvPr/>
        </p:nvSpPr>
        <p:spPr>
          <a:xfrm>
            <a:off x="1569567" y="4160520"/>
            <a:ext cx="2103120"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2000" b="0">
                <a:solidFill>
                  <a:srgbClr val="F3F5F7"/>
                </a:solidFill>
                <a:latin typeface="Segoe UI Semibold"/>
              </a:rPr>
              <a:t>Idea</a:t>
            </a:r>
          </a:p>
        </p:txBody>
      </p:sp>
      <p:cxnSp>
        <p:nvCxnSpPr>
          <p:cNvPr id="6" name="Connector 5"/>
          <p:cNvCxnSpPr/>
          <p:nvPr/>
        </p:nvCxnSpPr>
        <p:spPr>
          <a:xfrm>
            <a:off x="3745839" y="4572000"/>
            <a:ext cx="1225296" cy="0"/>
          </a:xfrm>
          <a:prstGeom prst="line">
            <a:avLst/>
          </a:prstGeom>
          <a:ln w="25400">
            <a:solidFill>
              <a:srgbClr val="F0883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745839" y="4005072"/>
            <a:ext cx="1225295" cy="457200"/>
          </a:xfrm>
          <a:prstGeom prst="rect">
            <a:avLst/>
          </a:prstGeom>
          <a:noFill/>
        </p:spPr>
        <p:txBody>
          <a:bodyPr wrap="square" anchor="b" lIns="0" rIns="0" tIns="0" bIns="0">
            <a:noAutofit/>
          </a:bodyPr>
          <a:lstStyle/>
          <a:p>
            <a:pPr algn="ctr"/>
            <a:r>
              <a:rPr sz="2800" b="0">
                <a:solidFill>
                  <a:srgbClr val="F0883E"/>
                </a:solidFill>
                <a:latin typeface="Segoe UI Semibold"/>
              </a:rPr>
              <a:t>?</a:t>
            </a:r>
          </a:p>
        </p:txBody>
      </p:sp>
      <p:sp>
        <p:nvSpPr>
          <p:cNvPr id="8" name="Rounded Rectangle 7"/>
          <p:cNvSpPr/>
          <p:nvPr/>
        </p:nvSpPr>
        <p:spPr>
          <a:xfrm>
            <a:off x="5044287" y="4160520"/>
            <a:ext cx="2103120"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2000" b="0">
                <a:solidFill>
                  <a:srgbClr val="F3F5F7"/>
                </a:solidFill>
                <a:latin typeface="Segoe UI Semibold"/>
              </a:rPr>
              <a:t>Chat</a:t>
            </a:r>
          </a:p>
        </p:txBody>
      </p:sp>
      <p:cxnSp>
        <p:nvCxnSpPr>
          <p:cNvPr id="9" name="Connector 8"/>
          <p:cNvCxnSpPr/>
          <p:nvPr/>
        </p:nvCxnSpPr>
        <p:spPr>
          <a:xfrm>
            <a:off x="7220559" y="4572000"/>
            <a:ext cx="1225296" cy="0"/>
          </a:xfrm>
          <a:prstGeom prst="line">
            <a:avLst/>
          </a:prstGeom>
          <a:ln w="2540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519007" y="4160520"/>
            <a:ext cx="2103120"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2000" b="0">
                <a:solidFill>
                  <a:srgbClr val="F3F5F7"/>
                </a:solidFill>
                <a:latin typeface="Segoe UI Semibold"/>
              </a:rPr>
              <a:t>Assignment</a:t>
            </a:r>
          </a:p>
        </p:txBody>
      </p:sp>
      <p:sp>
        <p:nvSpPr>
          <p:cNvPr id="11" name="TextBox 10"/>
          <p:cNvSpPr txBox="1"/>
          <p:nvPr/>
        </p:nvSpPr>
        <p:spPr>
          <a:xfrm>
            <a:off x="731520" y="5824474"/>
            <a:ext cx="10728655" cy="484885"/>
          </a:xfrm>
          <a:prstGeom prst="rect">
            <a:avLst/>
          </a:prstGeom>
          <a:noFill/>
        </p:spPr>
        <p:txBody>
          <a:bodyPr wrap="square" anchor="b" lIns="0" rIns="0" tIns="0" bIns="0">
            <a:noAutofit/>
          </a:bodyPr>
          <a:lstStyle/>
          <a:p>
            <a:r>
              <a:rPr sz="2600" b="0">
                <a:solidFill>
                  <a:srgbClr val="F0883E"/>
                </a:solidFill>
                <a:latin typeface="Segoe UI Semibold"/>
              </a:rPr>
              <a:t>The mistake is upstream of the answer.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731520" y="566928"/>
            <a:ext cx="502920" cy="54864"/>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49808"/>
            <a:ext cx="10728655" cy="685800"/>
          </a:xfrm>
          <a:prstGeom prst="rect">
            <a:avLst/>
          </a:prstGeom>
          <a:noFill/>
        </p:spPr>
        <p:txBody>
          <a:bodyPr wrap="square" anchor="t" lIns="0" rIns="0" tIns="0" bIns="0">
            <a:noAutofit/>
          </a:bodyPr>
          <a:lstStyle/>
          <a:p>
            <a:r>
              <a:rPr sz="3600" b="0">
                <a:solidFill>
                  <a:srgbClr val="F3F5F7"/>
                </a:solidFill>
                <a:latin typeface="Segoe UI Semibold"/>
              </a:rPr>
              <a:t>A forge, not a whisperer.</a:t>
            </a:r>
          </a:p>
        </p:txBody>
      </p:sp>
      <p:sp>
        <p:nvSpPr>
          <p:cNvPr id="4" name="TextBox 3"/>
          <p:cNvSpPr txBox="1"/>
          <p:nvPr/>
        </p:nvSpPr>
        <p:spPr>
          <a:xfrm>
            <a:off x="731520" y="1691640"/>
            <a:ext cx="10728655" cy="1882648"/>
          </a:xfrm>
          <a:prstGeom prst="rect">
            <a:avLst/>
          </a:prstGeom>
          <a:noFill/>
        </p:spPr>
        <p:txBody>
          <a:bodyPr wrap="square" anchor="t" lIns="0" rIns="0" tIns="0" bIns="0">
            <a:noAutofit/>
          </a:bodyPr>
          <a:lstStyle/>
          <a:p>
            <a:pPr>
              <a:spcAft>
                <a:spcPts val="600"/>
              </a:spcAft>
            </a:pPr>
            <a:r>
              <a:rPr sz="2200" b="0">
                <a:solidFill>
                  <a:srgbClr val="D3D9E0"/>
                </a:solidFill>
                <a:latin typeface="Segoe UI"/>
              </a:rPr>
              <a:t>The idea enters as written and never changes.</a:t>
            </a:r>
          </a:p>
          <a:p>
            <a:pPr>
              <a:spcAft>
                <a:spcPts val="600"/>
              </a:spcAft>
            </a:pPr>
            <a:r>
              <a:rPr sz="2200" b="0">
                <a:solidFill>
                  <a:srgbClr val="D3D9E0"/>
                </a:solidFill>
                <a:latin typeface="Segoe UI"/>
              </a:rPr>
              <a:t>Hammered into a shape that holds: what I want, why, open, dropped.</a:t>
            </a:r>
          </a:p>
          <a:p>
            <a:pPr>
              <a:spcAft>
                <a:spcPts val="600"/>
              </a:spcAft>
            </a:pPr>
            <a:r>
              <a:rPr sz="2200" b="0">
                <a:solidFill>
                  <a:srgbClr val="D3D9E0"/>
                </a:solidFill>
                <a:latin typeface="Segoe UI"/>
              </a:rPr>
              <a:t>Only then an output is cast — assignment, strategy paper, board proposal.</a:t>
            </a:r>
          </a:p>
          <a:p>
            <a:pPr>
              <a:spcAft>
                <a:spcPts val="600"/>
              </a:spcAft>
            </a:pPr>
            <a:r>
              <a:rPr sz="2200" b="0">
                <a:solidFill>
                  <a:srgbClr val="D3D9E0"/>
                </a:solidFill>
                <a:latin typeface="Segoe UI"/>
              </a:rPr>
              <a:t>The AI asks, argues back, keeps order. The human decides.</a:t>
            </a:r>
          </a:p>
        </p:txBody>
      </p:sp>
      <p:sp>
        <p:nvSpPr>
          <p:cNvPr id="5" name="Rounded Rectangle 4"/>
          <p:cNvSpPr/>
          <p:nvPr/>
        </p:nvSpPr>
        <p:spPr>
          <a:xfrm>
            <a:off x="1020927" y="4069080"/>
            <a:ext cx="2651760" cy="100584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2000" b="0">
                <a:solidFill>
                  <a:srgbClr val="F3F5F7"/>
                </a:solidFill>
                <a:latin typeface="Segoe UI Semibold"/>
              </a:rPr>
              <a:t>Idea</a:t>
            </a:r>
          </a:p>
          <a:p>
            <a:pPr algn="ctr"/>
            <a:r>
              <a:rPr sz="1600" b="0">
                <a:solidFill>
                  <a:srgbClr val="949FAB"/>
                </a:solidFill>
                <a:latin typeface="Segoe UI"/>
              </a:rPr>
              <a:t>(locked)</a:t>
            </a:r>
          </a:p>
        </p:txBody>
      </p:sp>
      <p:cxnSp>
        <p:nvCxnSpPr>
          <p:cNvPr id="6" name="Connector 5"/>
          <p:cNvCxnSpPr/>
          <p:nvPr/>
        </p:nvCxnSpPr>
        <p:spPr>
          <a:xfrm>
            <a:off x="3745839" y="4572000"/>
            <a:ext cx="950976" cy="0"/>
          </a:xfrm>
          <a:prstGeom prst="line">
            <a:avLst/>
          </a:prstGeom>
          <a:ln w="2540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769967" y="4069080"/>
            <a:ext cx="2651760" cy="100584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2000" b="0">
                <a:solidFill>
                  <a:srgbClr val="F3F5F7"/>
                </a:solidFill>
                <a:latin typeface="Segoe UI Semibold"/>
              </a:rPr>
              <a:t>Working shape</a:t>
            </a:r>
          </a:p>
          <a:p>
            <a:pPr algn="ctr"/>
            <a:r>
              <a:rPr sz="1600" b="0">
                <a:solidFill>
                  <a:srgbClr val="949FAB"/>
                </a:solidFill>
                <a:latin typeface="Segoe UI"/>
              </a:rPr>
              <a:t>(rewritten)</a:t>
            </a:r>
          </a:p>
        </p:txBody>
      </p:sp>
      <p:cxnSp>
        <p:nvCxnSpPr>
          <p:cNvPr id="8" name="Connector 7"/>
          <p:cNvCxnSpPr/>
          <p:nvPr/>
        </p:nvCxnSpPr>
        <p:spPr>
          <a:xfrm>
            <a:off x="7494879" y="4572000"/>
            <a:ext cx="950976" cy="0"/>
          </a:xfrm>
          <a:prstGeom prst="line">
            <a:avLst/>
          </a:prstGeom>
          <a:ln w="2540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519007" y="4069080"/>
            <a:ext cx="2651760" cy="100584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2000" b="0">
                <a:solidFill>
                  <a:srgbClr val="F3F5F7"/>
                </a:solidFill>
                <a:latin typeface="Segoe UI Semibold"/>
              </a:rPr>
              <a:t>Outputs</a:t>
            </a:r>
          </a:p>
          <a:p>
            <a:pPr algn="ctr"/>
            <a:r>
              <a:rPr sz="1600" b="0">
                <a:solidFill>
                  <a:srgbClr val="949FAB"/>
                </a:solidFill>
                <a:latin typeface="Segoe UI"/>
              </a:rPr>
              <a:t>(many)</a:t>
            </a:r>
          </a:p>
        </p:txBody>
      </p:sp>
      <p:sp>
        <p:nvSpPr>
          <p:cNvPr id="10" name="TextBox 9"/>
          <p:cNvSpPr txBox="1"/>
          <p:nvPr/>
        </p:nvSpPr>
        <p:spPr>
          <a:xfrm>
            <a:off x="731520" y="5824474"/>
            <a:ext cx="10728655" cy="484885"/>
          </a:xfrm>
          <a:prstGeom prst="rect">
            <a:avLst/>
          </a:prstGeom>
          <a:noFill/>
        </p:spPr>
        <p:txBody>
          <a:bodyPr wrap="square" anchor="b" lIns="0" rIns="0" tIns="0" bIns="0">
            <a:noAutofit/>
          </a:bodyPr>
          <a:lstStyle/>
          <a:p>
            <a:r>
              <a:rPr sz="2600" b="0">
                <a:solidFill>
                  <a:srgbClr val="F0883E"/>
                </a:solidFill>
                <a:latin typeface="Segoe UI Semibold"/>
              </a:rPr>
              <a:t>Substance forged once, form cast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731520" y="566928"/>
            <a:ext cx="502920" cy="54864"/>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49808"/>
            <a:ext cx="10728655" cy="685800"/>
          </a:xfrm>
          <a:prstGeom prst="rect">
            <a:avLst/>
          </a:prstGeom>
          <a:noFill/>
        </p:spPr>
        <p:txBody>
          <a:bodyPr wrap="square" anchor="t" lIns="0" rIns="0" tIns="0" bIns="0">
            <a:noAutofit/>
          </a:bodyPr>
          <a:lstStyle/>
          <a:p>
            <a:r>
              <a:rPr sz="3600" b="0">
                <a:solidFill>
                  <a:srgbClr val="F3F5F7"/>
                </a:solidFill>
                <a:latin typeface="Segoe UI Semibold"/>
              </a:rPr>
              <a:t>Opponents that never saw you.</a:t>
            </a:r>
          </a:p>
        </p:txBody>
      </p:sp>
      <p:sp>
        <p:nvSpPr>
          <p:cNvPr id="4" name="TextBox 3"/>
          <p:cNvSpPr txBox="1"/>
          <p:nvPr/>
        </p:nvSpPr>
        <p:spPr>
          <a:xfrm>
            <a:off x="731520" y="1828800"/>
            <a:ext cx="10728655" cy="2492248"/>
          </a:xfrm>
          <a:prstGeom prst="rect">
            <a:avLst/>
          </a:prstGeom>
          <a:noFill/>
        </p:spPr>
        <p:txBody>
          <a:bodyPr wrap="square" anchor="t" lIns="0" rIns="0" tIns="0" bIns="0">
            <a:noAutofit/>
          </a:bodyPr>
          <a:lstStyle/>
          <a:p>
            <a:pPr>
              <a:spcAft>
                <a:spcPts val="1800"/>
              </a:spcAft>
            </a:pPr>
            <a:r>
              <a:rPr sz="2200" b="0">
                <a:solidFill>
                  <a:srgbClr val="D3D9E0"/>
                </a:solidFill>
                <a:latin typeface="Segoe UI"/>
              </a:rPr>
              <a:t>One opponent hunts what is unclear; another attacks the substance.</a:t>
            </a:r>
          </a:p>
          <a:p>
            <a:pPr>
              <a:spcAft>
                <a:spcPts val="1800"/>
              </a:spcAft>
            </a:pPr>
            <a:r>
              <a:rPr sz="2200" b="0">
                <a:solidFill>
                  <a:srgbClr val="D3D9E0"/>
                </a:solidFill>
                <a:latin typeface="Segoe UI"/>
              </a:rPr>
              <a:t>More join as needed; all work blind to the conversation.</a:t>
            </a:r>
          </a:p>
          <a:p>
            <a:pPr>
              <a:spcAft>
                <a:spcPts val="1800"/>
              </a:spcAft>
            </a:pPr>
            <a:r>
              <a:rPr sz="2200" b="0">
                <a:solidFill>
                  <a:srgbClr val="D3D9E0"/>
                </a:solidFill>
                <a:latin typeface="Segoe UI"/>
              </a:rPr>
              <a:t>Every objection ends in a written verdict: accepted, rejected with reason, open.</a:t>
            </a:r>
          </a:p>
          <a:p>
            <a:pPr>
              <a:spcAft>
                <a:spcPts val="1800"/>
              </a:spcAft>
            </a:pPr>
            <a:r>
              <a:rPr sz="2200" b="0">
                <a:solidFill>
                  <a:srgbClr val="D3D9E0"/>
                </a:solidFill>
                <a:latin typeface="Segoe UI"/>
              </a:rPr>
              <a:t>One enterprise platform project: 34 objections, 31 accepted, 3 rejected.</a:t>
            </a:r>
          </a:p>
        </p:txBody>
      </p:sp>
      <p:sp>
        <p:nvSpPr>
          <p:cNvPr id="5" name="TextBox 4"/>
          <p:cNvSpPr txBox="1"/>
          <p:nvPr/>
        </p:nvSpPr>
        <p:spPr>
          <a:xfrm>
            <a:off x="731520" y="5824474"/>
            <a:ext cx="10728655" cy="484885"/>
          </a:xfrm>
          <a:prstGeom prst="rect">
            <a:avLst/>
          </a:prstGeom>
          <a:noFill/>
        </p:spPr>
        <p:txBody>
          <a:bodyPr wrap="square" anchor="b" lIns="0" rIns="0" tIns="0" bIns="0">
            <a:noAutofit/>
          </a:bodyPr>
          <a:lstStyle/>
          <a:p>
            <a:r>
              <a:rPr sz="2600" b="0">
                <a:solidFill>
                  <a:srgbClr val="F0883E"/>
                </a:solidFill>
                <a:latin typeface="Segoe UI Semibold"/>
              </a:rPr>
              <a:t>An AI that argues back, and a verdict that is written down.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731520" y="566928"/>
            <a:ext cx="502920" cy="54864"/>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49808"/>
            <a:ext cx="10728655" cy="685800"/>
          </a:xfrm>
          <a:prstGeom prst="rect">
            <a:avLst/>
          </a:prstGeom>
          <a:noFill/>
        </p:spPr>
        <p:txBody>
          <a:bodyPr wrap="square" anchor="t" lIns="0" rIns="0" tIns="0" bIns="0">
            <a:noAutofit/>
          </a:bodyPr>
          <a:lstStyle/>
          <a:p>
            <a:r>
              <a:rPr sz="3600" b="0">
                <a:solidFill>
                  <a:srgbClr val="F3F5F7"/>
                </a:solidFill>
                <a:latin typeface="Segoe UI Semibold"/>
              </a:rPr>
              <a:t>One idea, every audience in its own language.</a:t>
            </a:r>
          </a:p>
        </p:txBody>
      </p:sp>
      <p:sp>
        <p:nvSpPr>
          <p:cNvPr id="4" name="TextBox 3"/>
          <p:cNvSpPr txBox="1"/>
          <p:nvPr/>
        </p:nvSpPr>
        <p:spPr>
          <a:xfrm>
            <a:off x="731520" y="1645920"/>
            <a:ext cx="10728655" cy="1781048"/>
          </a:xfrm>
          <a:prstGeom prst="rect">
            <a:avLst/>
          </a:prstGeom>
          <a:noFill/>
        </p:spPr>
        <p:txBody>
          <a:bodyPr wrap="square" anchor="t" lIns="0" rIns="0" tIns="0" bIns="0">
            <a:noAutofit/>
          </a:bodyPr>
          <a:lstStyle/>
          <a:p>
            <a:pPr>
              <a:spcAft>
                <a:spcPts val="400"/>
              </a:spcAft>
            </a:pPr>
            <a:r>
              <a:rPr sz="2200" b="0">
                <a:solidFill>
                  <a:srgbClr val="D3D9E0"/>
                </a:solidFill>
                <a:latin typeface="Segoe UI"/>
              </a:rPr>
              <a:t>From one forged substance, an output for every audience.</a:t>
            </a:r>
          </a:p>
          <a:p>
            <a:pPr>
              <a:spcAft>
                <a:spcPts val="400"/>
              </a:spcAft>
            </a:pPr>
            <a:r>
              <a:rPr sz="2200" b="0">
                <a:solidFill>
                  <a:srgbClr val="D3D9E0"/>
                </a:solidFill>
                <a:latin typeface="Segoe UI"/>
              </a:rPr>
              <a:t>Tune the definition — for whom, what, how long — never the text.</a:t>
            </a:r>
          </a:p>
          <a:p>
            <a:pPr>
              <a:spcAft>
                <a:spcPts val="400"/>
              </a:spcAft>
            </a:pPr>
            <a:r>
              <a:rPr sz="2200" b="0">
                <a:solidFill>
                  <a:srgbClr val="D3D9E0"/>
                </a:solidFill>
                <a:latin typeface="Segoe UI"/>
              </a:rPr>
              <a:t>Change the idea: everything regenerates at once, every output current.</a:t>
            </a:r>
          </a:p>
          <a:p>
            <a:pPr>
              <a:spcAft>
                <a:spcPts val="400"/>
              </a:spcAft>
            </a:pPr>
            <a:r>
              <a:rPr sz="2200" b="0">
                <a:solidFill>
                  <a:srgbClr val="D3D9E0"/>
                </a:solidFill>
                <a:latin typeface="Segoe UI"/>
              </a:rPr>
              <a:t>No “which deck is right”, no rewriting five documents after one change.</a:t>
            </a:r>
          </a:p>
        </p:txBody>
      </p:sp>
      <p:sp>
        <p:nvSpPr>
          <p:cNvPr id="5" name="Oval 4"/>
          <p:cNvSpPr/>
          <p:nvPr/>
        </p:nvSpPr>
        <p:spPr>
          <a:xfrm>
            <a:off x="4769967" y="3675887"/>
            <a:ext cx="2651760" cy="566928"/>
          </a:xfrm>
          <a:prstGeom prst="ellipse">
            <a:avLst/>
          </a:prstGeom>
          <a:solidFill>
            <a:srgbClr val="1A1F26"/>
          </a:solidFill>
          <a:ln w="22225">
            <a:solidFill>
              <a:srgbClr val="F0883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1600" b="0">
                <a:solidFill>
                  <a:srgbClr val="F0883E"/>
                </a:solidFill>
                <a:latin typeface="Segoe UI Semibold"/>
              </a:rPr>
              <a:t>Forged substance</a:t>
            </a:r>
          </a:p>
        </p:txBody>
      </p:sp>
      <p:cxnSp>
        <p:nvCxnSpPr>
          <p:cNvPr id="6" name="Connector 5"/>
          <p:cNvCxnSpPr/>
          <p:nvPr/>
        </p:nvCxnSpPr>
        <p:spPr>
          <a:xfrm>
            <a:off x="6095847" y="4242816"/>
            <a:ext cx="0" cy="182880"/>
          </a:xfrm>
          <a:prstGeom prst="line">
            <a:avLst/>
          </a:prstGeom>
          <a:ln w="19050">
            <a:solidFill>
              <a:srgbClr val="5E687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572234" y="4425696"/>
            <a:ext cx="9047226" cy="0"/>
          </a:xfrm>
          <a:prstGeom prst="line">
            <a:avLst/>
          </a:prstGeom>
          <a:ln w="19050">
            <a:solidFill>
              <a:srgbClr val="5E687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72234" y="4425696"/>
            <a:ext cx="0" cy="219456"/>
          </a:xfrm>
          <a:prstGeom prst="line">
            <a:avLst/>
          </a:prstGeom>
          <a:ln w="1905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4645152"/>
            <a:ext cx="1681429"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1200" b="0">
                <a:solidFill>
                  <a:srgbClr val="F3F5F7"/>
                </a:solidFill>
                <a:latin typeface="Segoe UI Semibold"/>
              </a:rPr>
              <a:t>Five-minute pitch —</a:t>
            </a:r>
          </a:p>
          <a:p>
            <a:pPr algn="ctr"/>
            <a:r>
              <a:rPr sz="1200" b="0">
                <a:solidFill>
                  <a:srgbClr val="949FAB"/>
                </a:solidFill>
                <a:latin typeface="Segoe UI"/>
              </a:rPr>
              <a:t>group leadership</a:t>
            </a:r>
          </a:p>
        </p:txBody>
      </p:sp>
      <p:cxnSp>
        <p:nvCxnSpPr>
          <p:cNvPr id="10" name="Connector 9"/>
          <p:cNvCxnSpPr/>
          <p:nvPr/>
        </p:nvCxnSpPr>
        <p:spPr>
          <a:xfrm>
            <a:off x="3381679" y="4425696"/>
            <a:ext cx="0" cy="219456"/>
          </a:xfrm>
          <a:prstGeom prst="line">
            <a:avLst/>
          </a:prstGeom>
          <a:ln w="1905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40965" y="4645152"/>
            <a:ext cx="1681429"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1200" b="0">
                <a:solidFill>
                  <a:srgbClr val="F3F5F7"/>
                </a:solidFill>
                <a:latin typeface="Segoe UI Semibold"/>
              </a:rPr>
              <a:t>Technical deck —</a:t>
            </a:r>
          </a:p>
          <a:p>
            <a:pPr algn="ctr"/>
            <a:r>
              <a:rPr sz="1200" b="0">
                <a:solidFill>
                  <a:srgbClr val="949FAB"/>
                </a:solidFill>
                <a:latin typeface="Segoe UI"/>
              </a:rPr>
              <a:t>supplier</a:t>
            </a:r>
          </a:p>
        </p:txBody>
      </p:sp>
      <p:cxnSp>
        <p:nvCxnSpPr>
          <p:cNvPr id="12" name="Connector 11"/>
          <p:cNvCxnSpPr/>
          <p:nvPr/>
        </p:nvCxnSpPr>
        <p:spPr>
          <a:xfrm>
            <a:off x="5191125" y="4425696"/>
            <a:ext cx="0" cy="219456"/>
          </a:xfrm>
          <a:prstGeom prst="line">
            <a:avLst/>
          </a:prstGeom>
          <a:ln w="1905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50410" y="4645152"/>
            <a:ext cx="1681429"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1200" b="0">
                <a:solidFill>
                  <a:srgbClr val="F3F5F7"/>
                </a:solidFill>
                <a:latin typeface="Segoe UI Semibold"/>
              </a:rPr>
              <a:t>One-page mail —</a:t>
            </a:r>
          </a:p>
          <a:p>
            <a:pPr algn="ctr"/>
            <a:r>
              <a:rPr sz="1200" b="0">
                <a:solidFill>
                  <a:srgbClr val="949FAB"/>
                </a:solidFill>
                <a:latin typeface="Segoe UI"/>
              </a:rPr>
              <a:t>colleague</a:t>
            </a:r>
          </a:p>
        </p:txBody>
      </p:sp>
      <p:cxnSp>
        <p:nvCxnSpPr>
          <p:cNvPr id="14" name="Connector 13"/>
          <p:cNvCxnSpPr/>
          <p:nvPr/>
        </p:nvCxnSpPr>
        <p:spPr>
          <a:xfrm>
            <a:off x="7000570" y="4425696"/>
            <a:ext cx="0" cy="219456"/>
          </a:xfrm>
          <a:prstGeom prst="line">
            <a:avLst/>
          </a:prstGeom>
          <a:ln w="1905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59855" y="4645152"/>
            <a:ext cx="1681429"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1200" b="0">
                <a:solidFill>
                  <a:srgbClr val="F3F5F7"/>
                </a:solidFill>
                <a:latin typeface="Segoe UI Semibold"/>
              </a:rPr>
              <a:t>Executive summary —</a:t>
            </a:r>
          </a:p>
          <a:p>
            <a:pPr algn="ctr"/>
            <a:r>
              <a:rPr sz="1200" b="0">
                <a:solidFill>
                  <a:srgbClr val="949FAB"/>
                </a:solidFill>
                <a:latin typeface="Segoe UI"/>
              </a:rPr>
              <a:t>top management</a:t>
            </a:r>
          </a:p>
        </p:txBody>
      </p:sp>
      <p:cxnSp>
        <p:nvCxnSpPr>
          <p:cNvPr id="16" name="Connector 15"/>
          <p:cNvCxnSpPr/>
          <p:nvPr/>
        </p:nvCxnSpPr>
        <p:spPr>
          <a:xfrm>
            <a:off x="8810015" y="4425696"/>
            <a:ext cx="0" cy="219456"/>
          </a:xfrm>
          <a:prstGeom prst="line">
            <a:avLst/>
          </a:prstGeom>
          <a:ln w="1905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9300" y="4645152"/>
            <a:ext cx="1681429"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1200" b="0">
                <a:solidFill>
                  <a:srgbClr val="F3F5F7"/>
                </a:solidFill>
                <a:latin typeface="Segoe UI Semibold"/>
              </a:rPr>
              <a:t>Architecture picture —</a:t>
            </a:r>
          </a:p>
          <a:p>
            <a:pPr algn="ctr"/>
            <a:r>
              <a:rPr sz="1200" b="0">
                <a:solidFill>
                  <a:srgbClr val="949FAB"/>
                </a:solidFill>
                <a:latin typeface="Segoe UI"/>
              </a:rPr>
              <a:t>outside IT</a:t>
            </a:r>
          </a:p>
        </p:txBody>
      </p:sp>
      <p:cxnSp>
        <p:nvCxnSpPr>
          <p:cNvPr id="18" name="Connector 17"/>
          <p:cNvCxnSpPr/>
          <p:nvPr/>
        </p:nvCxnSpPr>
        <p:spPr>
          <a:xfrm>
            <a:off x="10619460" y="4425696"/>
            <a:ext cx="0" cy="219456"/>
          </a:xfrm>
          <a:prstGeom prst="line">
            <a:avLst/>
          </a:prstGeom>
          <a:ln w="19050">
            <a:solidFill>
              <a:srgbClr val="5E68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778746" y="4645152"/>
            <a:ext cx="1681429" cy="822960"/>
          </a:xfrm>
          <a:prstGeom prst="roundRect">
            <a:avLst>
              <a:gd name="adj" fmla="val 12000"/>
            </a:avLst>
          </a:prstGeom>
          <a:solidFill>
            <a:srgbClr val="1A1F26"/>
          </a:solidFill>
          <a:ln w="12700">
            <a:solidFill>
              <a:srgbClr val="363E4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r>
              <a:rPr sz="1200" b="0">
                <a:solidFill>
                  <a:srgbClr val="F3F5F7"/>
                </a:solidFill>
                <a:latin typeface="Segoe UI Semibold"/>
              </a:rPr>
              <a:t>Assignment —</a:t>
            </a:r>
          </a:p>
          <a:p>
            <a:pPr algn="ctr"/>
            <a:r>
              <a:rPr sz="1200" b="0">
                <a:solidFill>
                  <a:srgbClr val="949FAB"/>
                </a:solidFill>
                <a:latin typeface="Segoe UI"/>
              </a:rPr>
              <a:t>delivery team</a:t>
            </a:r>
          </a:p>
        </p:txBody>
      </p:sp>
      <p:sp>
        <p:nvSpPr>
          <p:cNvPr id="20" name="TextBox 19"/>
          <p:cNvSpPr txBox="1"/>
          <p:nvPr/>
        </p:nvSpPr>
        <p:spPr>
          <a:xfrm>
            <a:off x="731520" y="5824474"/>
            <a:ext cx="10728655" cy="484885"/>
          </a:xfrm>
          <a:prstGeom prst="rect">
            <a:avLst/>
          </a:prstGeom>
          <a:noFill/>
        </p:spPr>
        <p:txBody>
          <a:bodyPr wrap="square" anchor="b" lIns="0" rIns="0" tIns="0" bIns="0">
            <a:noAutofit/>
          </a:bodyPr>
          <a:lstStyle/>
          <a:p>
            <a:r>
              <a:rPr sz="2600" b="0">
                <a:solidFill>
                  <a:srgbClr val="F0883E"/>
                </a:solidFill>
                <a:latin typeface="Segoe UI Semibold"/>
              </a:rPr>
              <a:t>Change the idea once; every output follows.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731520" y="566928"/>
            <a:ext cx="502920" cy="54864"/>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49808"/>
            <a:ext cx="10728655" cy="685800"/>
          </a:xfrm>
          <a:prstGeom prst="rect">
            <a:avLst/>
          </a:prstGeom>
          <a:noFill/>
        </p:spPr>
        <p:txBody>
          <a:bodyPr wrap="square" anchor="t" lIns="0" rIns="0" tIns="0" bIns="0">
            <a:noAutofit/>
          </a:bodyPr>
          <a:lstStyle/>
          <a:p>
            <a:r>
              <a:rPr sz="3600" b="0">
                <a:solidFill>
                  <a:srgbClr val="F3F5F7"/>
                </a:solidFill>
                <a:latin typeface="Segoe UI Semibold"/>
              </a:rPr>
              <a:t>What it means for you.</a:t>
            </a:r>
          </a:p>
        </p:txBody>
      </p:sp>
      <p:sp>
        <p:nvSpPr>
          <p:cNvPr id="4" name="TextBox 3"/>
          <p:cNvSpPr txBox="1"/>
          <p:nvPr/>
        </p:nvSpPr>
        <p:spPr>
          <a:xfrm>
            <a:off x="731520" y="1828800"/>
            <a:ext cx="10728655" cy="1892046"/>
          </a:xfrm>
          <a:prstGeom prst="rect">
            <a:avLst/>
          </a:prstGeom>
          <a:noFill/>
        </p:spPr>
        <p:txBody>
          <a:bodyPr wrap="square" anchor="t" lIns="0" rIns="0" tIns="0" bIns="0">
            <a:noAutofit/>
          </a:bodyPr>
          <a:lstStyle/>
          <a:p>
            <a:pPr>
              <a:spcAft>
                <a:spcPts val="1800"/>
              </a:spcAft>
            </a:pPr>
            <a:r>
              <a:rPr sz="2200" b="0">
                <a:solidFill>
                  <a:srgbClr val="D3D9E0"/>
                </a:solidFill>
                <a:latin typeface="Segoe UI"/>
              </a:rPr>
              <a:t>An assignment that survives the team’s first question.</a:t>
            </a:r>
          </a:p>
          <a:p>
            <a:pPr>
              <a:spcAft>
                <a:spcPts val="1800"/>
              </a:spcAft>
            </a:pPr>
            <a:r>
              <a:rPr sz="2200" b="0">
                <a:solidFill>
                  <a:srgbClr val="D3D9E0"/>
                </a:solidFill>
                <a:latin typeface="Segoe UI"/>
              </a:rPr>
              <a:t>Every decision carries a date and a reason — a year later too.</a:t>
            </a:r>
          </a:p>
          <a:p>
            <a:pPr>
              <a:spcAft>
                <a:spcPts val="1800"/>
              </a:spcAft>
            </a:pPr>
            <a:r>
              <a:rPr sz="2200" b="0">
                <a:solidFill>
                  <a:srgbClr val="D3D9E0"/>
                </a:solidFill>
                <a:latin typeface="Segoe UI"/>
              </a:rPr>
              <a:t>An idea from anyone, the same discipline for everyone, CEO to analyst.</a:t>
            </a:r>
          </a:p>
        </p:txBody>
      </p:sp>
      <p:sp>
        <p:nvSpPr>
          <p:cNvPr id="5" name="TextBox 4"/>
          <p:cNvSpPr txBox="1"/>
          <p:nvPr/>
        </p:nvSpPr>
        <p:spPr>
          <a:xfrm>
            <a:off x="731520" y="5385308"/>
            <a:ext cx="10728655" cy="924051"/>
          </a:xfrm>
          <a:prstGeom prst="rect">
            <a:avLst/>
          </a:prstGeom>
          <a:noFill/>
        </p:spPr>
        <p:txBody>
          <a:bodyPr wrap="square" anchor="b" lIns="0" rIns="0" tIns="0" bIns="0">
            <a:noAutofit/>
          </a:bodyPr>
          <a:lstStyle/>
          <a:p>
            <a:r>
              <a:rPr sz="2600" b="0">
                <a:solidFill>
                  <a:srgbClr val="F0883E"/>
                </a:solidFill>
                <a:latin typeface="Segoe UI Semibold"/>
              </a:rPr>
              <a:t>A chat gives you an answer.</a:t>
            </a:r>
            <a:br/>
            <a:r>
              <a:rPr sz="2600" b="0">
                <a:solidFill>
                  <a:srgbClr val="F0883E"/>
                </a:solidFill>
                <a:latin typeface="Segoe UI Semibold"/>
              </a:rPr>
              <a:t>The forge gives you a decision you can stand behind.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Forge of Thought — executive pitch</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
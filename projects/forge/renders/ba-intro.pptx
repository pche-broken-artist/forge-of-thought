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Forge of Thought: an introduction for business analysts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Source material for a presentation of fourteen slides, followed by a live demonstration and a task for the room. One section per slide: the exact on-slide text, the diagram where the slide has one, and the speaker notes with the inputs each slide rests 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S01 - Forge of Thought</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Forge of Thought</a:t>
            </a:r>
          </a:p>
          <a:p>
            <a:pPr lvl="0" indent="0" marL="0">
              <a:buNone/>
            </a:pPr>
            <a:r>
              <a:rPr/>
              <a:t>A workshop where thought is tempered and shaped</a:t>
            </a:r>
          </a:p>
          <a:p>
            <a:pPr lvl="0" indent="0" marL="0">
              <a:buNone/>
            </a:pPr>
            <a:r>
              <a:rPr/>
              <a:t>In twenty minutes you will know:</a:t>
            </a:r>
          </a:p>
          <a:p>
            <a:pPr lvl="0"/>
            <a:r>
              <a:rPr/>
              <a:t>what the forge is</a:t>
            </a:r>
          </a:p>
          <a:p>
            <a:pPr lvl="0"/>
            <a:r>
              <a:rPr/>
              <a:t>what it is not</a:t>
            </a:r>
          </a:p>
          <a:p>
            <a:pPr lvl="0"/>
            <a:r>
              <a:rPr/>
              <a:t>how one works in it</a:t>
            </a:r>
          </a:p>
          <a:p>
            <a:pPr lvl="0"/>
            <a:r>
              <a:rPr/>
              <a:t>what your task is</a:t>
            </a:r>
          </a:p>
          <a:p>
            <a:pPr lvl="0" indent="0" marL="0">
              <a:buNone/>
            </a:pPr>
            <a:r>
              <a:rPr b="1"/>
              <a:t>Thought in, documents someone can act on out.</a:t>
            </a:r>
          </a:p>
          <a:p>
            <a:pPr lvl="0" indent="0" marL="0">
              <a:buNone/>
            </a:pPr>
            <a:r>
              <a:rPr b="1"/>
              <a:t>Speaker notes:</a:t>
            </a:r>
          </a:p>
          <a:p>
            <a:pPr lvl="0" indent="0" marL="0">
              <a:buNone/>
            </a:pPr>
            <a:r>
              <a:rPr/>
              <a:t>I built a tool for my own thinking and I use it every day. This is what it is, said plainly, by someone who uses it, not by someone selling it. The name says thought, not assignment: thoughts of whatever kind are the raw material, and forged documents are the product. An assignment is one of them, and it is the one you will recognise, because it is the kind of document you write and receive for a living. The subtitle is the one line the forge gives itself: a workshop where thought is tempered and shaped.</a:t>
            </a:r>
          </a:p>
          <a:p>
            <a:pPr lvl="0" indent="0" marL="0">
              <a:buNone/>
            </a:pPr>
            <a:r>
              <a:rPr/>
              <a:t>Four things in twenty minutes: what the forge is, what it is not, how one works in it, and what I will ask you to do afterwards. Then I show it live, and then the task is yours.</a:t>
            </a:r>
          </a:p>
          <a:p>
            <a:pPr lvl="0" indent="0" marL="0">
              <a:buNone/>
            </a:pPr>
            <a:r>
              <a:rPr/>
              <a:t>(CLAUDE.md, What this workspace is; projects/forge/10-intent.md, Essence and POS.0620; docs/start/what-it-is.md, Why.)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S02 - A chat gives you an answer</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A chat gives you an answer</a:t>
            </a:r>
          </a:p>
          <a:p>
            <a:pPr lvl="0"/>
            <a:r>
              <a:rPr/>
              <a:t>Thinking in a chat dies with the session.</a:t>
            </a:r>
          </a:p>
          <a:p>
            <a:pPr lvl="0"/>
            <a:r>
              <a:rPr/>
              <a:t>Instead, the idea travels a chain of versioned documents.</a:t>
            </a:r>
          </a:p>
          <a:p>
            <a:pPr lvl="0"/>
            <a:r>
              <a:rPr/>
              <a:t>Reviewers that never saw the conversation attack it.</a:t>
            </a:r>
          </a:p>
          <a:p>
            <a:pPr lvl="0"/>
            <a:r>
              <a:rPr/>
              <a:t>Who decided what, and why, is on record.</a:t>
            </a:r>
          </a:p>
          <a:p>
            <a:pPr lvl="0" indent="0" marL="0">
              <a:buNone/>
            </a:pPr>
            <a:r>
              <a:rPr b="1"/>
              <a:t>What survives is a file, never a conversation.</a:t>
            </a:r>
          </a:p>
          <a:p>
            <a:pPr lvl="0" indent="0" marL="0">
              <a:buNone/>
            </a:pPr>
            <a:r>
              <a:rPr b="1"/>
              <a:t>Speaker notes:</a:t>
            </a:r>
          </a:p>
          <a:p>
            <a:pPr lvl="0" indent="0" marL="0">
              <a:buNone/>
            </a:pPr>
            <a:r>
              <a:rPr/>
              <a:t>You have all done this: an hour of good thinking in a chat with an AI, and the next morning the session is gone, the thread is gone, and what you have is whatever you pasted somewhere. The forge is not a chat. State lives in files, never only in the conversation. What is in a file survives the session; what lives only in the conversation does not.</a:t>
            </a:r>
          </a:p>
          <a:p>
            <a:pPr lvl="0" indent="0" marL="0">
              <a:buNone/>
            </a:pPr>
            <a:r>
              <a:rPr/>
              <a:t>So the forge does three things differently. First, the idea travels a chain of versioned documents, from the idea as first put together onward; each document is a file with a version, and the next one is derived from it. Second, the documents are read by isolated reviewers, agents that are deliberately blind to the working conversation in which the documents were made, and they press on the thinking from different angles. Third, who decided what and why is on record: every versioned document has a history beside it, one record per change, and the decisions of the person whose thinking is forged are an append-only file of their own.</a:t>
            </a:r>
          </a:p>
          <a:p>
            <a:pPr lvl="0" indent="0" marL="0">
              <a:buNone/>
            </a:pPr>
            <a:r>
              <a:rPr/>
              <a:t>(docs/start/what-it-is.md, What it is and How it works; docs/about/what-it-is-and-is-not.md, What it is not; docs/about/documents-and-records.md, What it is.)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S03 - What it is not</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What it is not</a:t>
            </a:r>
          </a:p>
          <a:p>
            <a:pPr lvl="0"/>
            <a:r>
              <a:rPr/>
              <a:t>Not a program: nothing is implemented, the engine specifies.</a:t>
            </a:r>
          </a:p>
          <a:p>
            <a:pPr lvl="0"/>
            <a:r>
              <a:rPr/>
              <a:t>Not a delivery tool: a run ends where its owner is satisfied.</a:t>
            </a:r>
          </a:p>
          <a:p>
            <a:pPr lvl="0"/>
            <a:r>
              <a:rPr/>
              <a:t>Not a chat: state lives in files.</a:t>
            </a:r>
          </a:p>
          <a:p>
            <a:pPr lvl="0"/>
            <a:r>
              <a:rPr/>
              <a:t>Not one domain: a platform assignment or a game campaign alike.</a:t>
            </a:r>
          </a:p>
          <a:p>
            <a:pPr lvl="0" indent="0" marL="0">
              <a:buNone/>
            </a:pPr>
            <a:r>
              <a:rPr b="1"/>
              <a:t>The forge specifies; nothing is built or delivered here.</a:t>
            </a:r>
          </a:p>
          <a:p>
            <a:pPr lvl="0" indent="0" marL="0">
              <a:buNone/>
            </a:pPr>
            <a:r>
              <a:rPr b="1"/>
              <a:t>Speaker notes:</a:t>
            </a:r>
          </a:p>
          <a:p>
            <a:pPr lvl="0" indent="0" marL="0">
              <a:buNone/>
            </a:pPr>
            <a:r>
              <a:rPr/>
              <a:t>Four things the forge is not, so that nobody waits for something it will never do.</a:t>
            </a:r>
          </a:p>
          <a:p>
            <a:pPr lvl="0" indent="0" marL="0">
              <a:buNone/>
            </a:pPr>
            <a:r>
              <a:rPr/>
              <a:t>It is not a program. Nothing is implemented in it. Its product is a chain of documents, and at the far end of the chain stands a specification ready for realisation, not the realisation itself.</a:t>
            </a:r>
          </a:p>
          <a:p>
            <a:pPr lvl="0" indent="0" marL="0">
              <a:buNone/>
            </a:pPr>
            <a:r>
              <a:rPr/>
              <a:t>It is not a delivery tool. A run of the forge ends where its owner is satisfied: the outcome is a document the principal stands behind, and nothing further. Sponsorship, funding, adoption and delivery outcomes are outside its scope and outside its sight.</a:t>
            </a:r>
          </a:p>
          <a:p>
            <a:pPr lvl="0" indent="0" marL="0">
              <a:buNone/>
            </a:pPr>
            <a:r>
              <a:rPr/>
              <a:t>It is not a chat. We had this on the previous slide: state lives in files, and what lives only in the conversation does not survive it.</a:t>
            </a:r>
          </a:p>
          <a:p>
            <a:pPr lvl="0" indent="0" marL="0">
              <a:buNone/>
            </a:pPr>
            <a:r>
              <a:rPr/>
              <a:t>It is not tied to one domain. The mechanics of the chain are domain-agnostic. The same machinery that forges a platform assignment would forge a role-playing campaign: an intent of the story, then materials rendered for the game master.</a:t>
            </a:r>
          </a:p>
          <a:p>
            <a:pPr lvl="0" indent="0" marL="0">
              <a:buNone/>
            </a:pPr>
            <a:r>
              <a:rPr/>
              <a:t>(docs/about/what-it-is-and-is-not.md, What it is not; docs/start/what-it-is.md, How it works and Why.)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S04 - Two roles</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Two roles</a:t>
            </a:r>
          </a:p>
          <a:p>
            <a:pPr lvl="0"/>
            <a:r>
              <a:rPr/>
              <a:t>The principal: ideas, answers, decisions; final authority on content.</a:t>
            </a:r>
          </a:p>
          <a:p>
            <a:pPr lvl="0"/>
            <a:r>
              <a:rPr/>
              <a:t>Claude: structure, order, process discipline, document hygiene.</a:t>
            </a:r>
          </a:p>
          <a:p>
            <a:pPr lvl="0"/>
            <a:r>
              <a:rPr/>
              <a:t>Claude proposes and never decides.</a:t>
            </a:r>
          </a:p>
          <a:p>
            <a:pPr lvl="0"/>
            <a:r>
              <a:rPr/>
              <a:t>Cognitive extension: an amplifier of your thinking, never a substitute.</a:t>
            </a:r>
          </a:p>
          <a:p>
            <a:pPr lvl="0"/>
            <a:r>
              <a:rPr/>
              <a:t>When unsure, ask: no gap is filled by assumption.</a:t>
            </a:r>
          </a:p>
          <a:p>
            <a:pPr lvl="0" indent="0" marL="0">
              <a:buNone/>
            </a:pPr>
            <a:r>
              <a:rPr b="1"/>
              <a:t>Nothing enters the content because Claude proposed it.</a:t>
            </a:r>
          </a:p>
          <a:p>
            <a:pPr lvl="0" indent="0" marL="0">
              <a:buNone/>
            </a:pPr>
            <a:r>
              <a:rPr b="1"/>
              <a:t>Speaker notes:</a:t>
            </a:r>
          </a:p>
          <a:p>
            <a:pPr lvl="0" indent="0" marL="0">
              <a:buNone/>
            </a:pPr>
            <a:r>
              <a:rPr/>
              <a:t>The forge knows two roles, and neither is tied to a person. The principal is whoever’s thinking is being forged. In the room today that will be you. The principal supplies the ideas, the answers and the decisions, and is the final authority on all content. Whoever receives the result, a team, a colleague or your own future self, is called the recipient.</a:t>
            </a:r>
          </a:p>
          <a:p>
            <a:pPr lvl="0" indent="0" marL="0">
              <a:buNone/>
            </a:pPr>
            <a:r>
              <a:rPr/>
              <a:t>Claude, the AI the forge runs on, is the principal’s cognitive extension. The phrase means one thing exactly: an amplifier of the principal’s thinking, never a substitute for it. Claude owns structure, order, process discipline and document hygiene. Its contribution to content is to criticise, to challenge, to inspire and to lay out options. It proposes and never decides. The composition is the principal’s: nothing enters the content because Claude proposed it, only because the principal took it up.</a:t>
            </a:r>
          </a:p>
          <a:p>
            <a:pPr lvl="0" indent="0" marL="0">
              <a:buNone/>
            </a:pPr>
            <a:r>
              <a:rPr/>
              <a:t>The first rule Claude works under, the first of ten prime directives in its core instructions: when unsure, ask. Claude never fills a gap by assumption. Beyond answering, it elicits, that is, it helps you extract what you have not yet articulated. And whatever it brings as knowledge, it says in plain words whether that is verified, and on what, or unverified, or a hypothesis. You will feel this in the first ten minutes of use: more questions than you expect, and no invented facts.</a:t>
            </a:r>
          </a:p>
          <a:p>
            <a:pPr lvl="0" indent="0" marL="0">
              <a:buNone/>
            </a:pPr>
            <a:r>
              <a:rPr/>
              <a:t>(CLAUDE.md, Roles and Prime directives; docs/about/the-principal-and-claude.md, What it is and When unsure, ask; projects/forge/10-intent.md, POS.0010, POS.0020, POS.0070.)</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S05 - The document chain</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The document chain</a:t>
            </a:r>
          </a:p>
          <a:p>
            <a:pPr lvl="0"/>
            <a:r>
              <a:rPr/>
              <a:t>Brief, then intent; below it, assignment and solution design.</a:t>
            </a:r>
          </a:p>
          <a:p>
            <a:pPr lvl="0"/>
            <a:r>
              <a:rPr/>
              <a:t>Every artefact: a versioned file, its history beside it.</a:t>
            </a:r>
          </a:p>
          <a:p>
            <a:pPr lvl="0"/>
            <a:r>
              <a:rPr/>
              <a:t>Many projects end at the intent; the chain ends where needed.</a:t>
            </a:r>
          </a:p>
          <a:p>
            <a:pPr lvl="0"/>
            <a:r>
              <a:rPr/>
              <a:t>Items carry stable IDs, numbered in tens, never renumbered.</a:t>
            </a:r>
          </a:p>
          <a:p>
            <a:pPr lvl="0"/>
            <a:r>
              <a:rPr/>
              <a:t>Files numbered in tens: a layer is added without renaming.</a:t>
            </a:r>
          </a:p>
          <a:p>
            <a:pPr lvl="0" indent="0" marL="0">
              <a:buNone/>
            </a:pPr>
            <a:r>
              <a:rPr b="1"/>
              <a:t>The chain grows by adding a layer, nothing reworked.</a:t>
            </a:r>
          </a:p>
          <a:p>
            <a:pPr lvl="0" indent="0" marL="0">
              <a:buNone/>
            </a:pPr>
            <a:r>
              <a:rPr b="1"/>
              <a:t>Diagram:</a:t>
            </a:r>
          </a:p>
          <a:p>
            <a:pPr lvl="0" indent="0">
              <a:buNone/>
            </a:pPr>
            <a:r>
              <a:rPr>
                <a:latin typeface="Courier"/>
              </a:rPr>
              <a:t>flowchart TD
    B[00-brief] --&gt; I[10-intent]
    I --&gt; A[20-assignment]
    I --&gt; S[40-solution-design]
    A -.-&gt; S
    N[The chain grows by adding a layer]
    style N stroke-dasharray: 5 5</a:t>
            </a:r>
          </a:p>
          <a:p>
            <a:pPr lvl="0" indent="0" marL="0">
              <a:buNone/>
            </a:pPr>
            <a:r>
              <a:rPr b="1"/>
              <a:t>Speaker notes:</a:t>
            </a:r>
          </a:p>
          <a:p>
            <a:pPr lvl="0" indent="0" marL="0">
              <a:buNone/>
            </a:pPr>
            <a:r>
              <a:rPr/>
              <a:t>This is the picture to keep. A project is a chain of documents, the forge calls them artefacts, and each is a versioned file with an append-only history companion beside it.</a:t>
            </a:r>
          </a:p>
          <a:p>
            <a:pPr lvl="0" indent="0" marL="0">
              <a:buNone/>
            </a:pPr>
            <a:r>
              <a:rPr/>
              <a:t>The chain starts at a brief, the idea put together. Its trunk is the intent, the document of what the principal wants and why. Below the intent a project takes only the layers it needs: today the forge has definitions for two, the assignment and the solution design. The solution design is derived from the lowest layer the project has above it, the assignment where there is one, the intent alone where there is not; that is the dotted arrow. No layer below the intent is a condition of another, and a layer a project does not have is not missing. Many projects end at the intent, because what is wanted needs no solution written down and no one else has to act on it.</a:t>
            </a:r>
          </a:p>
          <a:p>
            <a:pPr lvl="0" indent="0" marL="0">
              <a:buNone/>
            </a:pPr>
            <a:r>
              <a:rPr/>
              <a:t>Every kind of artefact has a definition: a file in the engine that says what the artefact is, how it is found, by questions, research and sources, and what its rules are. Which artefacts the forge has is the listing of that directory, one definition each. Working on an artefact means invoking one command with the name of the target artefact, and Claude reads that definition.</a:t>
            </a:r>
          </a:p>
          <a:p>
            <a:pPr lvl="0" indent="0" marL="0">
              <a:buNone/>
            </a:pPr>
            <a:r>
              <a:rPr/>
              <a:t>Two conventions make the chain able to grow. Files are numbered in tens, so a layer can be added between two without renaming anything; the number orders the files and prescribes no sequence of work. And every item inside a document carries a stable ID, a three-letter prefix and a four-digit number, numbered in tens, global and never renumbered: an item with a stable ID can be cited, reviewed, traced into the layer below and changed one at a time. Prose cannot be pointed at.</a:t>
            </a:r>
          </a:p>
          <a:p>
            <a:pPr lvl="0" indent="0" marL="0">
              <a:buNone/>
            </a:pPr>
            <a:r>
              <a:rPr/>
              <a:t>(docs/about/the-document-chain.md, What it is and How it works; docs/about/how-a-thought-travels.md, What it is and Below the intent; .claude/skills/forge/states/, the four definitions, their Target and Inputs; CLAUDE.md, Document chain and ID scheme.)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S06 - The brief: rough on purpose</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The brief: rough on purpose</a:t>
            </a:r>
          </a:p>
          <a:p>
            <a:pPr lvl="0"/>
            <a:r>
              <a:rPr/>
              <a:t>The idea put together: what you want and why.</a:t>
            </a:r>
          </a:p>
          <a:p>
            <a:pPr lvl="0"/>
            <a:r>
              <a:rPr/>
              <a:t>Free-form: any structure, no IDs, no conventions of the chain.</a:t>
            </a:r>
          </a:p>
          <a:p>
            <a:pPr lvl="0"/>
            <a:r>
              <a:rPr/>
              <a:t>Thoughts to be processed, not decisions; nothing is yet a position.</a:t>
            </a:r>
          </a:p>
          <a:p>
            <a:pPr lvl="0"/>
            <a:r>
              <a:rPr/>
              <a:t>Three origins: arrives finished, begun outside and finished here, born here.</a:t>
            </a:r>
          </a:p>
          <a:p>
            <a:pPr lvl="0"/>
            <a:r>
              <a:rPr/>
              <a:t>Mined into the intent, never polished into one.</a:t>
            </a:r>
          </a:p>
          <a:p>
            <a:pPr lvl="0" indent="0" marL="0">
              <a:buNone/>
            </a:pPr>
            <a:r>
              <a:rPr b="1"/>
              <a:t>Throw the thoughts in; the sifting is the intent’s.</a:t>
            </a:r>
          </a:p>
          <a:p>
            <a:pPr lvl="0" indent="0" marL="0">
              <a:buNone/>
            </a:pPr>
            <a:r>
              <a:rPr b="1"/>
              <a:t>Speaker notes:</a:t>
            </a:r>
          </a:p>
          <a:p>
            <a:pPr lvl="0" indent="0" marL="0">
              <a:buNone/>
            </a:pPr>
            <a:r>
              <a:rPr/>
              <a:t>The first artefact is the brief: the principal’s text of one whole of thinking, what he wants and why, with what he chose to take from the finding around it. It is free form. Any structure you find useful is allowed, prose, headings, tables, use cases; no content is required, no IDs are given, none of the conventions of the chain apply. Only a minimal header stands at the top.</a:t>
            </a:r>
          </a:p>
          <a:p>
            <a:pPr lvl="0" indent="0" marL="0">
              <a:buNone/>
            </a:pPr>
            <a:r>
              <a:rPr/>
              <a:t>A brief holds thoughts to be processed, not decisions. Nothing in it is yet a position; its thoughts may be changed, reworked or dropped when it is mined, and only the intent turns them into positions. So the brief is rough on purpose. The chiselling is the intent’s work, and a brief polished until the intent has nothing left to do has gone too far. It is composed in a round or two and then mined.</a:t>
            </a:r>
          </a:p>
          <a:p>
            <a:pPr lvl="0" indent="0" marL="0">
              <a:buNone/>
            </a:pPr>
            <a:r>
              <a:rPr/>
              <a:t>Three origins are equally legitimate, and the forge does not distinguish them: the brief arrives finished from outside and is stored as it came; it is begun outside and finished with Claude; or it is born in the forge from the first word. For most of you the first one is the natural door: you have a page of notes already, and you paste it.</a:t>
            </a:r>
          </a:p>
          <a:p>
            <a:pPr lvl="0" indent="0" marL="0">
              <a:buNone/>
            </a:pPr>
            <a:r>
              <a:rPr/>
              <a:t>(docs/about/the-brief.md, What it is and What it holds; .claude/skills/forge/states/brief.md, Target and Aim; docs/about/how-a-thought-travels.md, It arrives as a brief.)</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S07 - The intent: what you want and why</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The intent: what you want and why</a:t>
            </a:r>
          </a:p>
          <a:p>
            <a:pPr lvl="0"/>
            <a:r>
              <a:rPr/>
              <a:t>Positions with their reason, facts, rejected directions with why dropped.</a:t>
            </a:r>
          </a:p>
          <a:p>
            <a:pPr lvl="0"/>
            <a:r>
              <a:rPr/>
              <a:t>Open threads live beside it, one file per project.</a:t>
            </a:r>
          </a:p>
          <a:p>
            <a:pPr lvl="0"/>
            <a:r>
              <a:rPr/>
              <a:t>Rewritten for coherence every round, never appended to.</a:t>
            </a:r>
          </a:p>
          <a:p>
            <a:pPr lvl="0"/>
            <a:r>
              <a:rPr/>
              <a:t>The way to a position lives in its history.</a:t>
            </a:r>
          </a:p>
          <a:p>
            <a:pPr lvl="0"/>
            <a:r>
              <a:rPr/>
              <a:t>The document to read after weeks, instead of old conversations.</a:t>
            </a:r>
          </a:p>
          <a:p>
            <a:pPr lvl="0" indent="0" marL="0">
              <a:buNone/>
            </a:pPr>
            <a:r>
              <a:rPr b="1"/>
              <a:t>The intent says what holds today, and why.</a:t>
            </a:r>
          </a:p>
          <a:p>
            <a:pPr lvl="0" indent="0" marL="0">
              <a:buNone/>
            </a:pPr>
            <a:r>
              <a:rPr b="1"/>
              <a:t>Speaker notes:</a:t>
            </a:r>
          </a:p>
          <a:p>
            <a:pPr lvl="0" indent="0" marL="0">
              <a:buNone/>
            </a:pPr>
            <a:r>
              <a:rPr/>
              <a:t>The brief is mined into the intent, the working document of a project and the trunk of its chain. The intent is the consolidated current state of what the principal holds. It is made of positions: a position says what the principal holds and why it holds, in as many words as it takes, and names what it comes from, a brief or a source. Beside the positions stand the facts, what is the case on the principal’s word or a source’s, and the rejected directions, what was considered and dropped, with the reason, so that old ground is not re-litigated.</a:t>
            </a:r>
          </a:p>
          <a:p>
            <a:pPr lvl="0" indent="0" marL="0">
              <a:buNone/>
            </a:pPr>
            <a:r>
              <a:rPr/>
              <a:t>What is still open lives beside the intent in a file of threads, one for the project. A thread names what is open and where it came from, and carries the working debate for as long as it is unsettled. It is where an unfinished conversation is saved. A settled thread leaves the file: what holds goes into the intent, and the record of its closing in the history carries the thread’s last wording word for word.</a:t>
            </a:r>
          </a:p>
          <a:p>
            <a:pPr lvl="0" indent="0" marL="0">
              <a:buNone/>
            </a:pPr>
            <a:r>
              <a:rPr/>
              <a:t>The intent is not a log. It is rewritten for coherence every round, and what changed is recorded in its history companion. The way to a position does not belong in the position: why it was changed, what was said on the way, trials, measurements, which research turned it. All of that goes into the history in the same step that writes the position, while the whole context is at hand.</a:t>
            </a:r>
          </a:p>
          <a:p>
            <a:pPr lvl="0" indent="0" marL="0">
              <a:buNone/>
            </a:pPr>
            <a:r>
              <a:rPr/>
              <a:t>Why this shape: chat context dies, and anything of value must live in a file. The intent is the document to read when you return to a project after weeks, instead of excavating old conversations. It answers “what do I want now”.</a:t>
            </a:r>
          </a:p>
          <a:p>
            <a:pPr lvl="0" indent="0" marL="0">
              <a:buNone/>
            </a:pPr>
            <a:r>
              <a:rPr/>
              <a:t>(docs/about/the-intent.md, What it is, What it holds and Why; docs/about/how-a-thought-travels.md, It is chiselled into the intent; .claude/skills/forge/states/intent.md, Aim and Threads and files.)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S08 - The assignment: where your work meets the forge</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The assignment: where your work meets the forge</a:t>
            </a:r>
          </a:p>
          <a:p>
            <a:pPr lvl="0"/>
            <a:r>
              <a:rPr/>
              <a:t>Complete and precise: nothing left out in silence.</a:t>
            </a:r>
          </a:p>
          <a:p>
            <a:pPr lvl="0"/>
            <a:r>
              <a:rPr/>
              <a:t>It assigns; it does not solve.</a:t>
            </a:r>
          </a:p>
          <a:p>
            <a:pPr lvl="0"/>
            <a:r>
              <a:rPr/>
              <a:t>Items with shall and shall not, no priorities, one idea each.</a:t>
            </a:r>
          </a:p>
          <a:p>
            <a:pPr lvl="0"/>
            <a:r>
              <a:rPr/>
              <a:t>Prefixes: REQ, OOS, CON, ASM, DEL, TBC, SCR.</a:t>
            </a:r>
          </a:p>
          <a:p>
            <a:pPr lvl="0"/>
            <a:r>
              <a:rPr/>
              <a:t>A BRD layer below it is foreseen and not built.</a:t>
            </a:r>
          </a:p>
          <a:p>
            <a:pPr lvl="0" indent="0" marL="0">
              <a:buNone/>
            </a:pPr>
            <a:r>
              <a:rPr b="1"/>
              <a:t>Delegated or open on purpose is complete; silent is not.</a:t>
            </a:r>
          </a:p>
          <a:p>
            <a:pPr lvl="0" indent="0" marL="0">
              <a:buNone/>
            </a:pPr>
            <a:r>
              <a:rPr b="1"/>
              <a:t>Speaker notes:</a:t>
            </a:r>
          </a:p>
          <a:p>
            <a:pPr lvl="0" indent="0" marL="0">
              <a:buNone/>
            </a:pPr>
            <a:r>
              <a:rPr/>
              <a:t>This is the slide where your daily work meets the forge. The assignment is the handover document for the recipients: it carries the in-scope substance of the intent to them, complete and precise, so that they can act on it without the principal in the room. It tells them who they are, what must be true at the end, what is theirs to decide and bring back, what they shall not do, and what the principal has left open on purpose.</a:t>
            </a:r>
          </a:p>
          <a:p>
            <a:pPr lvl="0" indent="0" marL="0">
              <a:buNone/>
            </a:pPr>
            <a:r>
              <a:rPr/>
              <a:t>The one design constraint that shapes almost everything: nothing is left out for brevity’s sake, and a silent omission is a defect. Leaving a matter out is legitimate only as an explicit delegation, a deliverable or an open question with an owner. There is no size target in either direction; length is whatever fidelity requires. The assignment assigns and does not solve, and what keeps it an assignment rather than a solution is the kind of its content, never the amount.</a:t>
            </a:r>
          </a:p>
          <a:p>
            <a:pPr lvl="0" indent="0" marL="0">
              <a:buNone/>
            </a:pPr>
            <a:r>
              <a:rPr/>
              <a:t>The items will look familiar. They are written with shall and shall not, in full sentences, one idea per item, each written once. The softer verbs, would, could, should, might, may, and MoSCoW wording are not used: shall is testable and binds, the softer verbs leave the recipient to guess, and MoSCoW puts a priority where completeness belongs. There is no priority column and no priority tag; everything in an assignment is essential, and an exception carries a note reading optional. Testability is recommended, not required, because assignments are deliberately high-level and delegating the concretisation to the recipients is a legitimate outcome.</a:t>
            </a:r>
          </a:p>
          <a:p>
            <a:pPr lvl="0" indent="0" marL="0">
              <a:buNone/>
            </a:pPr>
            <a:r>
              <a:rPr/>
              <a:t>The prefixes of an assignment: REQ for a requirement, OOS for out of scope, CON for a constraint the recipients do not challenge, ASM for an assumption, DEL for a deliverable, which may delegate work, TBC for an open question with an owner, SCR for a success criterion, optional or delegated. The prefix vocabulary is aligned with the BRD standard you know where an equivalent exists.</a:t>
            </a:r>
          </a:p>
          <a:p>
            <a:pPr lvl="0" indent="0" marL="0">
              <a:buNone/>
            </a:pPr>
            <a:r>
              <a:rPr/>
              <a:t>One fact, so that nobody waits for it: a BRD layer below the assignment is foreseen in the forge’s own intent and is not built. The file number 30 is kept free for it. Today the chain goes brief, intent, assignment, solution design, and the forge keeps the BRD’s place.</a:t>
            </a:r>
          </a:p>
          <a:p>
            <a:pPr lvl="0" indent="0" marL="0">
              <a:buNone/>
            </a:pPr>
            <a:r>
              <a:rPr/>
              <a:t>(docs/about/the-assignment.md, What it is, What it holds and Complete when; docs/reference/requirement-style.md, The rules; .claude/skills/forge/states/assignment.md, Aim and Requirement style; docs/about/the-document-chain.md, Why; CLAUDE.md, ID scheme; projects/forge/10-intent.md, POS.0100, POS.0230, POS.0700.)</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S09 - How a session feels</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How a session feels</a:t>
            </a:r>
          </a:p>
          <a:p>
            <a:pPr lvl="0"/>
            <a:r>
              <a:rPr/>
              <a:t>Elicitation interview: one question at a time.</a:t>
            </a:r>
          </a:p>
          <a:p>
            <a:pPr lvl="0"/>
            <a:r>
              <a:rPr/>
              <a:t>Walkthrough: one item per message, a verdict each.</a:t>
            </a:r>
          </a:p>
          <a:p>
            <a:pPr lvl="0"/>
            <a:r>
              <a:rPr/>
              <a:t>Draft early; reflect back before anything is written.</a:t>
            </a:r>
          </a:p>
          <a:p>
            <a:pPr lvl="0"/>
            <a:r>
              <a:rPr/>
              <a:t>One write per round, on the word write.</a:t>
            </a:r>
          </a:p>
          <a:p>
            <a:pPr lvl="0"/>
            <a:r>
              <a:rPr/>
              <a:t>Step by step: nothing hard to reverse without your word.</a:t>
            </a:r>
          </a:p>
          <a:p>
            <a:pPr lvl="0" indent="0" marL="0">
              <a:buNone/>
            </a:pPr>
            <a:r>
              <a:rPr b="1"/>
              <a:t>You answer and decide; Claude asks and keeps order.</a:t>
            </a:r>
          </a:p>
          <a:p>
            <a:pPr lvl="0" indent="0" marL="0">
              <a:buNone/>
            </a:pPr>
            <a:r>
              <a:rPr b="1"/>
              <a:t>Speaker notes:</a:t>
            </a:r>
          </a:p>
          <a:p>
            <a:pPr lvl="0" indent="0" marL="0">
              <a:buNone/>
            </a:pPr>
            <a:r>
              <a:rPr/>
              <a:t>The forge has named ways a working conversation runs; it calls them working methods. None is a command. A method applies whenever its situation arises, and you can call for one in a word. These are the five you will meet in the first hour.</a:t>
            </a:r>
          </a:p>
          <a:p>
            <a:pPr lvl="0" indent="0" marL="0">
              <a:buNone/>
            </a:pPr>
            <a:r>
              <a:rPr/>
              <a:t>The elicitation interview. Claude draws out by questions what you have not yet articulated, rather than filling gaps by assumption. One question per message; your answer is acknowledged before the next question is asked. This is the heart of forging an intent.</a:t>
            </a:r>
          </a:p>
          <a:p>
            <a:pPr lvl="0" indent="0" marL="0">
              <a:buNone/>
            </a:pPr>
            <a:r>
              <a:rPr/>
              <a:t>The walkthrough. Any list that needs your decision, the findings of a reviewer, open threads, the open questions before a handover, is worked one item per message, in order of weight. Each item carries what it says, what would change and for whom, and a recommendation with its reason; it closes with one verdict line: accept, modify, reject or park. You can answer with a single letter. You are never given a table of twenty items to judge at once.</a:t>
            </a:r>
          </a:p>
          <a:p>
            <a:pPr lvl="0" indent="0" marL="0">
              <a:buNone/>
            </a:pPr>
            <a:r>
              <a:rPr/>
              <a:t>Draft early, and reflect back. An early draft is a tool for drawing you out, not an output: concrete text sharpens your reaction. And before anything is written, Claude restates what it understood, so that the write confirms and does not surprise.</a:t>
            </a:r>
          </a:p>
          <a:p>
            <a:pPr lvl="0" indent="0" marL="0">
              <a:buNone/>
            </a:pPr>
            <a:r>
              <a:rPr/>
              <a:t>One write per round. A working conversation is one round. What you agree in it is carried in the conversation and written once, at its end, on your word. The word is “write”, typed in full. Until then everything agreed is nowhere yet, and Claude says so.</a:t>
            </a:r>
          </a:p>
          <a:p>
            <a:pPr lvl="0" indent="0" marL="0">
              <a:buNone/>
            </a:pPr>
            <a:r>
              <a:rPr/>
              <a:t>Step by step. Any action that needs your consent, a write, a commit, a push, a rename, anything hard to reverse, arrives as one step with the exact operation and its reason, and runs on your word. A plan you have seen is not consent for its steps. A remark in answer to “shall I change it?” is not a yes.</a:t>
            </a:r>
          </a:p>
          <a:p>
            <a:pPr lvl="0" indent="0" marL="0">
              <a:buNone/>
            </a:pPr>
            <a:r>
              <a:rPr/>
              <a:t>(docs/about/working-methods.md, What it is and How it works; docs/about/elicitation.md, What it is; CLAUDE.md, Working methods.)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S10 - Reviewers that never saw the conversation</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Reviewers that never saw the conversation</a:t>
            </a:r>
          </a:p>
          <a:p>
            <a:pPr lvl="0"/>
            <a:r>
              <a:rPr/>
              <a:t>Critic: the quality of the documents, never substance.</a:t>
            </a:r>
          </a:p>
          <a:p>
            <a:pPr lvl="0"/>
            <a:r>
              <a:rPr/>
              <a:t>Challenger: the substance of the thinking, never document quality.</a:t>
            </a:r>
          </a:p>
          <a:p>
            <a:pPr lvl="0"/>
            <a:r>
              <a:rPr/>
              <a:t>Check: conformance with the conventions, never substance or quality.</a:t>
            </a:r>
          </a:p>
          <a:p>
            <a:pPr lvl="0"/>
            <a:r>
              <a:rPr/>
              <a:t>Isolated: blind to the conversation, and that blindness is their value.</a:t>
            </a:r>
          </a:p>
          <a:p>
            <a:pPr lvl="0"/>
            <a:r>
              <a:rPr/>
              <a:t>Every finding settled by walkthrough: fixed, or rejected with a reason.</a:t>
            </a:r>
          </a:p>
          <a:p>
            <a:pPr lvl="0" indent="0" marL="0">
              <a:buNone/>
            </a:pPr>
            <a:r>
              <a:rPr b="1"/>
              <a:t>Three reviewers, three jobs, and none of them blocks you.</a:t>
            </a:r>
          </a:p>
          <a:p>
            <a:pPr lvl="0" indent="0" marL="0">
              <a:buNone/>
            </a:pPr>
            <a:r>
              <a:rPr b="1"/>
              <a:t>Diagram:</a:t>
            </a:r>
          </a:p>
          <a:p>
            <a:pPr lvl="0" indent="0">
              <a:buNone/>
            </a:pPr>
            <a:r>
              <a:rPr>
                <a:latin typeface="Courier"/>
              </a:rPr>
              <a:t>flowchart TD
    CR[Critic: quality] --&gt; CH[The chain]
    CL[Challenger: substance] --&gt; CH
    CK[Check: conformance] --&gt; CH</a:t>
            </a:r>
          </a:p>
          <a:p>
            <a:pPr lvl="0" indent="0" marL="0">
              <a:buNone/>
            </a:pPr>
            <a:r>
              <a:rPr b="1"/>
              <a:t>Speaker notes:</a:t>
            </a:r>
          </a:p>
          <a:p>
            <a:pPr lvl="0" indent="0" marL="0">
              <a:buNone/>
            </a:pPr>
            <a:r>
              <a:rPr/>
              <a:t>At every layer the documents and the thinking are pressed on by isolated reviewers. There are three kinds, each with one job and one output, and they are kept strictly apart.</a:t>
            </a:r>
          </a:p>
          <a:p>
            <a:pPr lvl="0" indent="0" marL="0">
              <a:buNone/>
            </a:pPr>
            <a:r>
              <a:rPr/>
              <a:t>The critic judges document quality and never substance: ambiguity, contradiction, duplication, drift between one layer and the next. It has lenses, and it produces findings. The challenger judges the substance of the thinking and never document quality: unstated assumptions, whether the stated objective is the real problem, second-order effects, the serious counter-case. It has personas, and it produces challenges. The check verifies mechanical conformance with the conventions and never substance or quality; each check owns one concern.</a:t>
            </a:r>
          </a:p>
          <a:p>
            <a:pPr lvl="0" indent="0" marL="0">
              <a:buNone/>
            </a:pPr>
            <a:r>
              <a:rPr/>
              <a:t>All three run as isolated subagents: a separate run of Claude that reads the project’s documents and the engine’s rules and sees nothing of the working conversation in which the documents were made. That blindness is the source of their value: the audit benefits from a clean context. Every reviewer is invoked by hand; none runs on Claude’s own judgement. Every report is immutable and dated.</a:t>
            </a:r>
          </a:p>
          <a:p>
            <a:pPr lvl="0" indent="0" marL="0">
              <a:buNone/>
            </a:pPr>
            <a:r>
              <a:rPr/>
              <a:t>What happens with a report is the walkthrough from the previous slide. Every finding and every challenge is either fixed or explicitly rejected, with the reason recorded as a decision. Rejecting and parking are legitimate outcomes; silently ignoring is not. And nothing blocks: the findings are advisory, and the principal alone decides what is published.</a:t>
            </a:r>
          </a:p>
          <a:p>
            <a:pPr lvl="0" indent="0" marL="0">
              <a:buNone/>
            </a:pPr>
            <a:r>
              <a:rPr/>
              <a:t>One honest limit, in the forge’s own words: isolation is not independence. The author and the reviewers share one model family, so their agreement is never treated as validation; it only means the documents are consistent under one set of priors. The calibration point lies outside: review by humans, which is one reason you are in this room.</a:t>
            </a:r>
          </a:p>
          <a:p>
            <a:pPr lvl="0" indent="0" marL="0">
              <a:buNone/>
            </a:pPr>
            <a:r>
              <a:rPr/>
              <a:t>(docs/about/isolated-reviewers.md, What it is, Settling and Why; CLAUDE.md, Isolated reviewers; projects/forge/10-intent.md, POS.0400, POS.0440, POS.0790.)</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S11 - Everything is a file</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Everything is a file</a:t>
            </a:r>
          </a:p>
          <a:p>
            <a:pPr lvl="0"/>
            <a:r>
              <a:rPr/>
              <a:t>A history beside every versioned document; decisions on record, append-only.</a:t>
            </a:r>
          </a:p>
          <a:p>
            <a:pPr lvl="0"/>
            <a:r>
              <a:rPr/>
              <a:t>The ledger: the single source of truth for state.</a:t>
            </a:r>
          </a:p>
          <a:p>
            <a:pPr lvl="0"/>
            <a:r>
              <a:rPr/>
              <a:t>Sources and research, each directory with its own index.</a:t>
            </a:r>
          </a:p>
          <a:p>
            <a:pPr lvl="0"/>
            <a:r>
              <a:rPr/>
              <a:t>Renders generated from recipes, never edited by hand, the README among them.</a:t>
            </a:r>
          </a:p>
          <a:p>
            <a:pPr lvl="0"/>
            <a:r>
              <a:rPr/>
              <a:t>Git only through the forge’s scripts, the one door.</a:t>
            </a:r>
          </a:p>
          <a:p>
            <a:pPr lvl="0" indent="0" marL="0">
              <a:buNone/>
            </a:pPr>
            <a:r>
              <a:rPr b="1"/>
              <a:t>State lives in files, never only in the conversation.</a:t>
            </a:r>
          </a:p>
          <a:p>
            <a:pPr lvl="0" indent="0" marL="0">
              <a:buNone/>
            </a:pPr>
            <a:r>
              <a:rPr b="1"/>
              <a:t>Speaker notes:</a:t>
            </a:r>
          </a:p>
          <a:p>
            <a:pPr lvl="0" indent="0" marL="0">
              <a:buNone/>
            </a:pPr>
            <a:r>
              <a:rPr/>
              <a:t>Everything a project is lives in its directory, as Markdown files. Every document has one kind, and the kind says who writes it, whether it is versioned and how it behaves.</a:t>
            </a:r>
          </a:p>
          <a:p>
            <a:pPr lvl="0" indent="0" marL="0">
              <a:buNone/>
            </a:pPr>
            <a:r>
              <a:rPr/>
              <a:t>The artefacts of the chain are versioned and rewritten freely. Beside every versioned document stands its history: an append-only companion, one record per change, to which records are added and from which nothing is removed. The principal’s decisions are an append-only file of their own, numbered, never edited; a later decision supersedes an earlier one by a new record that names it.</a:t>
            </a:r>
          </a:p>
          <a:p>
            <a:pPr lvl="0" indent="0" marL="0">
              <a:buNone/>
            </a:pPr>
            <a:r>
              <a:rPr/>
              <a:t>The ledger is the single source of truth for state: one file, with one table per thing the project tracks, documents, renders, sources, research, findings, challenges, and a list of what waits on the principal. It is freely rewritten and kept current after every operation.</a:t>
            </a:r>
          </a:p>
          <a:p>
            <a:pPr lvl="0" indent="0" marL="0">
              <a:buNone/>
            </a:pPr>
            <a:r>
              <a:rPr/>
              <a:t>External inputs, transcripts, offers, documents, standards, live in a sources directory, immutable once registered; durable answers to one question live in a research directory. Each directory carries a light index so that one knows what is there without re-reading it.</a:t>
            </a:r>
          </a:p>
          <a:p>
            <a:pPr lvl="0" indent="0" marL="0">
              <a:buNone/>
            </a:pPr>
            <a:r>
              <a:rPr/>
              <a:t>Outputs for an audience, a pitch, an executive summary, the README of the project, are renders: generated from the chain, never edited by hand. What is iterated is the recipe, the file that says what the render reads, for whom and in what shape. When the thinking moves, the render is regenerated, not patched. The README of every project is such a render.</a:t>
            </a:r>
          </a:p>
          <a:p>
            <a:pPr lvl="0" indent="0" marL="0">
              <a:buNone/>
            </a:pPr>
            <a:r>
              <a:rPr/>
              <a:t>And all of it is saved to git, through the forge’s own scripts, which are its only door to git. The engine is one repository; every project is a repository of its own, with whatever remote and visibility its owner gives it.</a:t>
            </a:r>
          </a:p>
          <a:p>
            <a:pPr lvl="0" indent="0" marL="0">
              <a:buNone/>
            </a:pPr>
            <a:r>
              <a:rPr/>
              <a:t>(docs/about/documents-and-records.md, What it is and How it works; docs/about/renders-and-recipes.md, What it is and When a render is regenerated; CLAUDE.md, Document kinds, Persistence (git) and Ledger.)</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S12 - How complex is it</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How complex is it</a:t>
            </a:r>
          </a:p>
          <a:p>
            <a:pPr lvl="0"/>
            <a:r>
              <a:rPr/>
              <a:t>A git repository of slash commands, isolated agents and templates.</a:t>
            </a:r>
          </a:p>
          <a:p>
            <a:pPr lvl="0"/>
            <a:r>
              <a:rPr/>
              <a:t>Runs in Claude Code; one command per situation.</a:t>
            </a:r>
          </a:p>
          <a:p>
            <a:pPr lvl="0"/>
            <a:r>
              <a:rPr/>
              <a:t>The map of a project on one command: /forge.</a:t>
            </a:r>
          </a:p>
          <a:p>
            <a:pPr lvl="0"/>
            <a:r>
              <a:rPr/>
              <a:t>One sitting: a project, a brief, an intent, a save.</a:t>
            </a:r>
          </a:p>
          <a:p>
            <a:pPr lvl="0"/>
            <a:r>
              <a:rPr/>
              <a:t>Installed: git, Python, Claude Code and a clone of the engine.</a:t>
            </a:r>
          </a:p>
          <a:p>
            <a:pPr lvl="0" indent="0" marL="0">
              <a:buNone/>
            </a:pPr>
            <a:r>
              <a:rPr b="1"/>
              <a:t>Knowing the artefact’s name is knowing the command.</a:t>
            </a:r>
          </a:p>
          <a:p>
            <a:pPr lvl="0" indent="0" marL="0">
              <a:buNone/>
            </a:pPr>
            <a:r>
              <a:rPr b="1"/>
              <a:t>Speaker notes:</a:t>
            </a:r>
          </a:p>
          <a:p>
            <a:pPr lvl="0" indent="0" marL="0">
              <a:buNone/>
            </a:pPr>
            <a:r>
              <a:rPr/>
              <a:t>Less complex than the previous slides suggest. Technically, Forge of Thought is a git repository of slash commands, isolated agents and templates, bound to no domain. It is not a program; it is a set of instructions that Claude reads, with the deterministic work kept at the edge in scripts. The engine, that repository, is public; your projects are repositories of your own, which the engine does not know.</a:t>
            </a:r>
          </a:p>
          <a:p>
            <a:pPr lvl="0" indent="0" marL="0">
              <a:buNone/>
            </a:pPr>
            <a:r>
              <a:rPr/>
              <a:t>It runs in Claude Code, and the forge is worked through commands: one command per situation. The commands are typed with a slash. The map of a project is one command, “/forge” on its own: it says which artefacts exist, at what version, which can be worked next, and ends with a recommendation. Work on an artefact is the same command with the name of the target: “/forge intent”, “/forge assignment”. Knowing the name of the target artefact is knowing the command, and there is nothing to memorise as layers are added.</a:t>
            </a:r>
          </a:p>
          <a:p>
            <a:pPr lvl="0" indent="0" marL="0">
              <a:buNone/>
            </a:pPr>
            <a:r>
              <a:rPr/>
              <a:t>A first result takes one sitting: a project scaffolded by one command, a brief pasted and approved, a first intent found in an interview and written at the round’s end, and the whole saved to git by one command. That is what the documentation calls a first result, and it is what your task is.</a:t>
            </a:r>
          </a:p>
          <a:p>
            <a:pPr lvl="0" indent="0" marL="0">
              <a:buNone/>
            </a:pPr>
            <a:r>
              <a:rPr/>
              <a:t>What must be installed, in one line: git; Python, reachable as “python”; Claude Code with a subscription; and the engine, cloned from its public home. A few optional tools come later, each only for the command that uses it.</a:t>
            </a:r>
          </a:p>
          <a:p>
            <a:pPr lvl="0" indent="0" marL="0">
              <a:buNone/>
            </a:pPr>
            <a:r>
              <a:rPr/>
              <a:t>(docs/start/what-it-is.md, Why; docs/about/how-a-thought-travels.md, What it is; docs/about/the-document-chain.md, Working a layer; docs/start/first-result.md, What you do; docs/start/install.md, What you do.)</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S13 - What you will see now</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What you will see now</a:t>
            </a:r>
          </a:p>
          <a:p>
            <a:pPr lvl="0"/>
            <a:r>
              <a:rPr/>
              <a:t>The map of a project: /forge.</a:t>
            </a:r>
          </a:p>
          <a:p>
            <a:pPr lvl="0"/>
            <a:r>
              <a:rPr/>
              <a:t>The interview that forges an intent: /forge intent.</a:t>
            </a:r>
          </a:p>
          <a:p>
            <a:pPr lvl="0"/>
            <a:r>
              <a:rPr/>
              <a:t>A reviewer run and its walkthrough: /critique or /challenge.</a:t>
            </a:r>
          </a:p>
          <a:p>
            <a:pPr lvl="0"/>
            <a:r>
              <a:rPr/>
              <a:t>A render made from the chain: /render.</a:t>
            </a:r>
          </a:p>
          <a:p>
            <a:pPr lvl="0" indent="0" marL="0">
              <a:buNone/>
            </a:pPr>
            <a:r>
              <a:rPr b="1"/>
              <a:t>What follows is the forge itself, not slides.</a:t>
            </a:r>
          </a:p>
          <a:p>
            <a:pPr lvl="0" indent="0" marL="0">
              <a:buNone/>
            </a:pPr>
            <a:r>
              <a:rPr b="1"/>
              <a:t>Speaker notes:</a:t>
            </a:r>
          </a:p>
          <a:p>
            <a:pPr lvl="0" indent="0" marL="0">
              <a:buNone/>
            </a:pPr>
            <a:r>
              <a:rPr/>
              <a:t>Four things, live, in this order.</a:t>
            </a:r>
          </a:p>
          <a:p>
            <a:pPr lvl="0" indent="0" marL="0">
              <a:buNone/>
            </a:pPr>
            <a:r>
              <a:rPr/>
              <a:t>First, the map of a project. One bare command reports where a project stands: which artefacts exist and at what version, what can be worked from here, and the natural next step, as a recommendation.</a:t>
            </a:r>
          </a:p>
          <a:p>
            <a:pPr lvl="0" indent="0" marL="0">
              <a:buNone/>
            </a:pPr>
            <a:r>
              <a:rPr/>
              <a:t>Second, the interview that forges an intent. The command with the name of the target reads the brief, and Claude works through it with me by questions, one theme at a time. Watch the shape: one question per message, my answer acknowledged, the next question. Nothing is written while the round runs; at the end Claude reflects back what we agreed and writes once, on my word.</a:t>
            </a:r>
          </a:p>
          <a:p>
            <a:pPr lvl="0" indent="0" marL="0">
              <a:buNone/>
            </a:pPr>
            <a:r>
              <a:rPr/>
              <a:t>Third, a reviewer run and its walkthrough. I start a critic lens or a challenger persona against the intent. The agent reads the files, blind to our conversation, and returns an immutable dated report. Then the findings come to me one per message, each with a recommendation and a verdict line, and I accept, modify, reject or park.</a:t>
            </a:r>
          </a:p>
          <a:p>
            <a:pPr lvl="0" indent="0" marL="0">
              <a:buNone/>
            </a:pPr>
            <a:r>
              <a:rPr/>
              <a:t>Fourth, a render made from the chain. A recipe names its inputs, its audience, its instructions and its template; one command regenerates the output from the documents as they stand, and the render opens with its provenance, the recipe and every input with their versions.</a:t>
            </a:r>
          </a:p>
          <a:p>
            <a:pPr lvl="0" indent="0" marL="0">
              <a:buNone/>
            </a:pPr>
            <a:r>
              <a:rPr/>
              <a:t>(docs/start/first-result.md, What happens; docs/about/isolated-reviewers.md, How it works and A worked example; docs/about/renders-and-recipes.md, Generating the render; docs/about/the-document-chain.md, Working a layer.)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S14 - Your task</a:t>
            </a:r>
          </a:p>
        </p:txBody>
      </p:sp>
      <p:sp>
        <p:nvSpPr>
          <p:cNvPr id="3" name="Content Placeholder 2"/>
          <p:cNvSpPr>
            <a:spLocks noGrp="1"/>
          </p:cNvSpPr>
          <p:nvPr>
            <p:ph idx="1"/>
          </p:nvPr>
        </p:nvSpPr>
        <p:spPr/>
        <p:txBody>
          <a:bodyPr/>
          <a:lstStyle/>
          <a:p>
            <a:pPr lvl="0" indent="0" marL="0">
              <a:buNone/>
            </a:pPr>
            <a:r>
              <a:rPr b="1"/>
              <a:t>On slide:</a:t>
            </a:r>
          </a:p>
          <a:p>
            <a:pPr lvl="0" indent="0" marL="0">
              <a:buNone/>
            </a:pPr>
            <a:r>
              <a:rPr/>
              <a:t>Your task</a:t>
            </a:r>
          </a:p>
          <a:p>
            <a:pPr lvl="0"/>
            <a:r>
              <a:rPr/>
              <a:t>A GitHub account.</a:t>
            </a:r>
          </a:p>
          <a:p>
            <a:pPr lvl="0"/>
            <a:r>
              <a:rPr/>
              <a:t>Follow the author’s profile: https://github.com/pche-broken-artist</a:t>
            </a:r>
          </a:p>
          <a:p>
            <a:pPr lvl="0"/>
            <a:r>
              <a:rPr/>
              <a:t>Install the forge on your own machine, by the documentation.</a:t>
            </a:r>
          </a:p>
          <a:p>
            <a:pPr lvl="0"/>
            <a:r>
              <a:rPr/>
              <a:t>Make a project of your own, any idea, to the first intent.</a:t>
            </a:r>
          </a:p>
          <a:p>
            <a:pPr lvl="0"/>
            <a:r>
              <a:rPr/>
              <a:t>One improvement: an idea in Discussions first, a change through the chain.</a:t>
            </a:r>
          </a:p>
          <a:p>
            <a:pPr lvl="0" indent="0" marL="0">
              <a:buNone/>
            </a:pPr>
            <a:r>
              <a:rPr b="1"/>
              <a:t>Come back with what did not work.</a:t>
            </a:r>
          </a:p>
          <a:p>
            <a:pPr lvl="0" indent="0" marL="0">
              <a:buNone/>
            </a:pPr>
            <a:r>
              <a:rPr b="1"/>
              <a:t>Speaker notes:</a:t>
            </a:r>
          </a:p>
          <a:p>
            <a:pPr lvl="0" indent="0" marL="0">
              <a:buNone/>
            </a:pPr>
            <a:r>
              <a:rPr/>
              <a:t>Five things, in this order.</a:t>
            </a:r>
          </a:p>
          <a:p>
            <a:pPr lvl="0" indent="0" marL="0">
              <a:buNone/>
            </a:pPr>
            <a:r>
              <a:rPr/>
              <a:t>Get a GitHub account if you have none; the engine lives there, and so do the places where you tell me what you found.</a:t>
            </a:r>
          </a:p>
          <a:p>
            <a:pPr lvl="0" indent="0" marL="0">
              <a:buNone/>
            </a:pPr>
            <a:r>
              <a:rPr/>
              <a:t>Follow my profile: https://github.com/pche-broken-artist. The engine’s public home and its documentation are reached from it, and my contacts for anything that should not be public are on it.</a:t>
            </a:r>
          </a:p>
          <a:p>
            <a:pPr lvl="0" indent="0" marL="0">
              <a:buNone/>
            </a:pPr>
            <a:r>
              <a:rPr/>
              <a:t>Install the forge on your own machine, by the documentation, not by memory of today. The page says what must be on the machine, in what order, and what you see when each piece is in place. The forge is cloned, not copied.</a:t>
            </a:r>
          </a:p>
          <a:p>
            <a:pPr lvl="0" indent="0" marL="0">
              <a:buNone/>
            </a:pPr>
            <a:r>
              <a:rPr/>
              <a:t>Make a project of your own. Any idea: a process you want changed, a handover you keep writing the same way, anything you carry around. Take it to the first intent: a project scaffolded, a brief pasted and approved, an intent found in the interview and written at the round’s end, the whole saved. That is one sitting.</a:t>
            </a:r>
          </a:p>
          <a:p>
            <a:pPr lvl="0" indent="0" marL="0">
              <a:buNone/>
            </a:pPr>
            <a:r>
              <a:rPr/>
              <a:t>Bring one improvement, in the way the forge’s own contributing file asks for it. An idea needs nothing but itself: open a discussion and say what you would want the forge to do, or to stop doing, and why. A change of how the forge behaves goes through the chain before it is built, so that we agree on what is wanted while it is still cheap. And nobody sends a change he has not tried himself.</a:t>
            </a:r>
          </a:p>
          <a:p>
            <a:pPr lvl="0" indent="0" marL="0">
              <a:buNone/>
            </a:pPr>
            <a:r>
              <a:rPr/>
              <a:t>What I want most is to hear what you found and what you would do differently. Feedback and ideas come first. So the closing line is the whole task: come back with what did not work.</a:t>
            </a:r>
          </a:p>
          <a:p>
            <a:pPr lvl="0" indent="0" marL="0">
              <a:buNone/>
            </a:pPr>
            <a:r>
              <a:rPr/>
              <a:t>(CONTRIBUTING.md, Tell me what you found, You have an idea, You want to send a change, Try it first and Privately; docs/start/install.md, What you do; docs/start/first-result.md, What you do and What you have afterwards.)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2026-10-11T22:05:45Z</dcterms:created>
  <dcterms:modified xsi:type="dcterms:W3CDTF">2026-10-11T22:05:45Z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nerated">
    <vt:lpwstr>2026-10-12</vt:lpwstr>
  </property>
  <property fmtid="{D5CDD505-2E9C-101B-9397-08002B2CF9AE}" pid="3" name="inputs">
    <vt:lpwstr/>
  </property>
  <property fmtid="{D5CDD505-2E9C-101B-9397-08002B2CF9AE}" pid="4" name="project">
    <vt:lpwstr>forge</vt:lpwstr>
  </property>
  <property fmtid="{D5CDD505-2E9C-101B-9397-08002B2CF9AE}" pid="5" name="recipe">
    <vt:lpwstr>recipes/ba-intro.md v0.1</vt:lpwstr>
  </property>
  <property fmtid="{D5CDD505-2E9C-101B-9397-08002B2CF9AE}" pid="6" name="render">
    <vt:lpwstr>ba-intro</vt:lpwstr>
  </property>
</Properties>
</file>